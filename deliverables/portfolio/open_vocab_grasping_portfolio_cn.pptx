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开场：这是一个在 PyBullet 仿真中验证的 text-to-grasp 系统。先展示最终闭环，再解释每层如何避免把仿真真值当作感知结果。
[Sources]
- outputs/20260816_140448_414159_run_seed10/demo.gif
- outputs/20260816_140448_414159_run_seed10/agent_result.json
- https://github.com/IptiharPolat/open-vocab-grasping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问题页：强调工程难点不是“让机械臂动起来”，而是把文本语义、RGB-D 几何和可达运动统一到一个可审计闭环中。
[Sources]
- README.md
- docs/architecture.md
- docs/experiment_protocol.md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这一页强调职责分工：DeepSeek 只规划受约束阶段；YOLO-World 给出语义证据；GraspNet 提供候选；最后由明确物理和运动学规则筛选并执行。
[Sources]
- docs/architecture.md
- docs/agent_architecture.md
- docs/coordinate_frames.md
- Ultralytics YOLO-World documentation
- graspnet/graspnet-baseline official repository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展示真实单次完整 episode 的三个阶段。强调检测框本身不足以识别抓取归属，因此将 3D 抓取中心投影回图像并加上深度一致性。
[Sources]
- outputs/20260816_140448_414159_run_seed10/detections.png
- outputs/20260816_140448_414159_run_seed10/filtered_candidates_2d.png
- outputs/20260816_140448_414159_run_seed10/filtered_candidates_3d.png
- docs/coordinate_frames.md
- docs/experiment_protocol.md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抓取候选是神经网络的输出，但不能直接给机器人。这里展示从相机抓取位姿到 Panda TCP 的变换，以及碰撞、IK、轨迹等可解释安全门。
[Sources]
- outputs/20260816_140448_414159_run_seed10/filtered_candidates_3d.png
- outputs/20260816_140448_414159_run_seed10/agent_result.json
- docs/coordinate_frames.md
- docs/architecture.md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不要说“DeepSeek 生成并执行任意 Python”。正确描述是：模型只产生结构化计划；系统编译为固定 DSL 并做 AST 白名单检查；控制器逐阶段同步真实流水线。
[Sources]
- outputs/20260816_140225_904008_agent_evaluation/cases.csv
- outputs/20260816_140225_904008_agent_evaluation/summary.json
- outputs/20260816_140448_414159_run_seed10/agent_plan.json
- outputs/20260816_140448_414159_run_seed10/agent_generated_plan.py
- outputs/20260816_140448_414159_run_seed10/agent_generated_plan_trace.json
- docs/agent_architecture.md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这是正式固定种子实验，所有失败均计入分母。端到端 26/40 不能被 40/40 的计划层指标掩盖；瓶子最好，碗最低。
[Sources]
- outputs/20260815_001417_040250_evaluation/episodes.csv
- outputs/20260815_001417_040250_evaluation/summary.json
- outputs/20260816_140225_904008_agent_evaluation/cases.csv
- outputs/20260816_140225_904008_agent_evaluation/summary.json
- docs/experiment_protocol.md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收尾：这不是把 65% 包装成完成，而是保留失败并将下一步聚焦在接触稳定、开放词汇分割、视觉闭环和真机安全迁移。
[Sources]
- docs/failure_analysis.md
- outputs/20260815_001417_040250_evaluation/episodes.csv
- docs/job_material_evidence.md
- outputs/20260816_140448_414159_run_seed10/demo.mp4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784080" y="5074920"/>
            <a:ext cx="2377440" cy="2377440"/>
          </a:xfrm>
          <a:prstGeom prst="arc">
            <a:avLst/>
          </a:prstGeom>
          <a:solidFill>
            <a:srgbClr val="071522">
              <a:alpha val="0"/>
            </a:srgbClr>
          </a:solidFill>
          <a:ln w="12700">
            <a:solidFill>
              <a:srgbClr val="2B4252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66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具身智能 · 机器人算法 · 抓取规划作品集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960120"/>
            <a:ext cx="5806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开放词汇感知驱动的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机械臂抓取规划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94360" y="26791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DE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文本指令 → 语义感知 → 6-DoF 抓取 → Panda 执行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102535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325526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PYBULLET SIMULATION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367588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FC2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Python · PyBullet · YOLO-World · GraspNet · Open3D · PyTorch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0050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github.com/IptiharPolat/open-vocab-grasping</a:t>
            </a:r>
            <a:endParaRPr lang="en-US" sz="1150" dirty="0"/>
          </a:p>
        </p:txBody>
      </p:sp>
      <p:pic>
        <p:nvPicPr>
          <p:cNvPr id="11" name="Image 0" descr="/home/ubuntu/open-vocab-grasping/deliverables/portfolio/assets/seed10_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2" y="585216"/>
            <a:ext cx="4754880" cy="3566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793992" y="3840480"/>
            <a:ext cx="4754880" cy="310896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3886200"/>
            <a:ext cx="45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真实保留 seed-10：DeepSeek + YOLO-World + 官方 GraspNet 成功抬升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93992" y="4416552"/>
            <a:ext cx="4754880" cy="960120"/>
          </a:xfrm>
          <a:prstGeom prst="roundRect">
            <a:avLst>
              <a:gd name="adj" fmla="val 5714"/>
            </a:avLst>
          </a:prstGeom>
          <a:solidFill>
            <a:srgbClr val="102535"/>
          </a:solidFill>
          <a:ln w="10160">
            <a:solidFill>
              <a:srgbClr val="2B42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4636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一次真实成功 episode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86600" y="49377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bottle  |  1,009 → 4 候选  |  抬升 0.115870 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350">
            <a:solidFill>
              <a:srgbClr val="2B42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" kern="0" dirty="0">
                <a:solidFill>
                  <a:srgbClr val="AFC2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OPEN-VOCAB GRASPING  |  PYBULLET SIMULATION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09160" y="654710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AFC2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真实项目素材：seed-10 bottle demo.gif / agent_result.json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9D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59E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PROBLEM &amp;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94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从“说出目标”到“安全抓起目标”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3383280" cy="4526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C8D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9E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固定类别感知的局限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传统抓取系统常把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类别、目标选择和几何规划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写死在任务中。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310128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面对“抓取红色瓶子 / pick the mug”这类自然语言目标时，需要把二维语义与三维可执行抓取对应起来。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15968" y="1261872"/>
            <a:ext cx="7269480" cy="4526280"/>
          </a:xfrm>
          <a:prstGeom prst="roundRect">
            <a:avLst>
              <a:gd name="adj" fmla="val 1212"/>
            </a:avLst>
          </a:prstGeom>
          <a:solidFill>
            <a:srgbClr val="071522"/>
          </a:solidFill>
          <a:ln w="10160">
            <a:solidFill>
              <a:srgbClr val="0715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600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本项目的输入 / 输出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2103120"/>
            <a:ext cx="2148840" cy="758952"/>
          </a:xfrm>
          <a:prstGeom prst="roundRect">
            <a:avLst>
              <a:gd name="adj" fmla="val 7229"/>
            </a:avLst>
          </a:prstGeom>
          <a:solidFill>
            <a:srgbClr val="102535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29514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“请抓取桌面上的瓶子”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86600" y="2276856"/>
            <a:ext cx="502920" cy="347472"/>
          </a:xfrm>
          <a:prstGeom prst="chevron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2103120"/>
            <a:ext cx="3200400" cy="758952"/>
          </a:xfrm>
          <a:prstGeom prst="roundRect">
            <a:avLst>
              <a:gd name="adj" fmla="val 7229"/>
            </a:avLst>
          </a:prstGeom>
          <a:solidFill>
            <a:srgbClr val="123A4B"/>
          </a:solidFill>
          <a:ln w="10160">
            <a:solidFill>
              <a:srgbClr val="39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295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Panda 预抓取 → 接近 → 闭合 → 抬升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36592" y="3337560"/>
            <a:ext cx="146304" cy="146304"/>
          </a:xfrm>
          <a:prstGeom prst="ellipse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32735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中文/英文文本指定目标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736592" y="3840480"/>
            <a:ext cx="146304" cy="146304"/>
          </a:xfrm>
          <a:prstGeom prst="ellipse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3776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开放词汇检测与 RGB-D 三维关联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736592" y="4343400"/>
            <a:ext cx="146304" cy="146304"/>
          </a:xfrm>
          <a:prstGeom prst="ellipse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42793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6-DoF 候选、碰撞与 IK 约束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736592" y="4846320"/>
            <a:ext cx="146304" cy="146304"/>
          </a:xfrm>
          <a:prstGeom prst="ellipse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4782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自动成功判定与失败归因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81728" y="5321808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C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验证范围：固定相机 + Franka Panda + 桌面场景的 PyBullet 仿真；不代表真机、ROS 或真实相机性能。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350">
            <a:solidFill>
              <a:srgbClr val="C6D4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" kern="0" dirty="0">
                <a:solidFill>
                  <a:srgbClr val="6076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OPEN-VOCAB GRASPING  |  PYBULLET SIMULATION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09160" y="654710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076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范围声明：PyBullet 仿真，不是物理机器人部署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9D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784080" y="5074920"/>
            <a:ext cx="2377440" cy="2377440"/>
          </a:xfrm>
          <a:prstGeom prst="arc">
            <a:avLst/>
          </a:prstGeom>
          <a:solidFill>
            <a:srgbClr val="071522">
              <a:alpha val="0"/>
            </a:srgbClr>
          </a:solidFill>
          <a:ln w="12700">
            <a:solidFill>
              <a:srgbClr val="2B4252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394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完整闭环：语义决定“抓谁”，几何决定“怎么抓”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0E4051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67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 / 英文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任务指令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38528" y="2350008"/>
            <a:ext cx="228600" cy="274320"/>
          </a:xfrm>
          <a:prstGeom prst="chevron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2075688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0E4051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267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DeepSeek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结构化计划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84448" y="2350008"/>
            <a:ext cx="228600" cy="274320"/>
          </a:xfrm>
          <a:prstGeom prst="chevron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2075688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123A4B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267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YOLO-World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开放词汇检测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30368" y="2350008"/>
            <a:ext cx="228600" cy="274320"/>
          </a:xfrm>
          <a:prstGeom prst="chevron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2075688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123A4B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267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RGB-D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点云重建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76288" y="2350008"/>
            <a:ext cx="228600" cy="274320"/>
          </a:xfrm>
          <a:prstGeom prst="chevron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2075688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173A4B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2267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GraspNet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6-DoF 候选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22208" y="2350008"/>
            <a:ext cx="228600" cy="274320"/>
          </a:xfrm>
          <a:prstGeom prst="chevron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3960" y="2075688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173A4B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267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语义+安全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筛选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168128" y="2350008"/>
            <a:ext cx="228600" cy="274320"/>
          </a:xfrm>
          <a:prstGeom prst="chevron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69880" y="2075688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0E4051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61320" y="2267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Panda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88720" y="3621024"/>
            <a:ext cx="9802368" cy="1225296"/>
          </a:xfrm>
          <a:prstGeom prst="roundRect">
            <a:avLst>
              <a:gd name="adj" fmla="val 4478"/>
            </a:avLst>
          </a:prstGeom>
          <a:solidFill>
            <a:srgbClr val="102535"/>
          </a:solidFill>
          <a:ln w="10160">
            <a:solidFill>
              <a:srgbClr val="2B4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38679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筛选链路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514600" y="3822192"/>
            <a:ext cx="1078992" cy="438912"/>
          </a:xfrm>
          <a:prstGeom prst="roundRect">
            <a:avLst>
              <a:gd name="adj" fmla="val 12500"/>
            </a:avLst>
          </a:prstGeom>
          <a:solidFill>
            <a:srgbClr val="173544"/>
          </a:solidFill>
          <a:ln w="6350">
            <a:solidFill>
              <a:srgbClr val="159E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393192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检测框投影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13048" y="3822192"/>
            <a:ext cx="1078992" cy="438912"/>
          </a:xfrm>
          <a:prstGeom prst="roundRect">
            <a:avLst>
              <a:gd name="adj" fmla="val 12500"/>
            </a:avLst>
          </a:prstGeom>
          <a:solidFill>
            <a:srgbClr val="164252"/>
          </a:solidFill>
          <a:ln w="6350">
            <a:solidFill>
              <a:srgbClr val="159E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58768" y="393192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深度一致性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11496" y="3822192"/>
            <a:ext cx="1078992" cy="438912"/>
          </a:xfrm>
          <a:prstGeom prst="roundRect">
            <a:avLst>
              <a:gd name="adj" fmla="val 12500"/>
            </a:avLst>
          </a:prstGeom>
          <a:solidFill>
            <a:srgbClr val="173544"/>
          </a:solidFill>
          <a:ln w="6350">
            <a:solidFill>
              <a:srgbClr val="159E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393192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官方碰撞标记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9944" y="3822192"/>
            <a:ext cx="1078992" cy="438912"/>
          </a:xfrm>
          <a:prstGeom prst="roundRect">
            <a:avLst>
              <a:gd name="adj" fmla="val 12500"/>
            </a:avLst>
          </a:prstGeom>
          <a:solidFill>
            <a:srgbClr val="164252"/>
          </a:solidFill>
          <a:ln w="6350">
            <a:solidFill>
              <a:srgbClr val="159E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393192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工作空间/夹爪宽度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08392" y="3822192"/>
            <a:ext cx="1078992" cy="438912"/>
          </a:xfrm>
          <a:prstGeom prst="roundRect">
            <a:avLst>
              <a:gd name="adj" fmla="val 12500"/>
            </a:avLst>
          </a:prstGeom>
          <a:solidFill>
            <a:srgbClr val="173544"/>
          </a:solidFill>
          <a:ln w="6350">
            <a:solidFill>
              <a:srgbClr val="159E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393192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Panda IK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06840" y="3822192"/>
            <a:ext cx="1078992" cy="438912"/>
          </a:xfrm>
          <a:prstGeom prst="roundRect">
            <a:avLst>
              <a:gd name="adj" fmla="val 12500"/>
            </a:avLst>
          </a:prstGeom>
          <a:solidFill>
            <a:srgbClr val="164252"/>
          </a:solidFill>
          <a:ln w="6350">
            <a:solidFill>
              <a:srgbClr val="159E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393192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轨迹插值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88720" y="523951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2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真值边界：PyBullet instance ID 只用于 oracle 上界、事后指标与物理/成功判定；开放词汇语义选择不读取实例 ID。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350">
            <a:solidFill>
              <a:srgbClr val="2B42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" kern="0" dirty="0">
                <a:solidFill>
                  <a:srgbClr val="AFC2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OPEN-VOCAB GRASPING  |  PYBULLET SIMULATION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09160" y="654710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AFC2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架构源：docs/architecture.md；LLM 安全源：docs/agent_architecture.md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9D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59E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OPEN-VOCABULARY PERCEPTION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94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开放词汇检测与三维关联：不以实例 ID 替代感知</a:t>
            </a:r>
            <a:endParaRPr lang="en-US" sz="3600" dirty="0"/>
          </a:p>
        </p:txBody>
      </p:sp>
      <p:pic>
        <p:nvPicPr>
          <p:cNvPr id="4" name="Image 0" descr="/home/ubuntu/open-vocab-grasping/outputs/20260816_140448_414159_run_seed10/dete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36576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3730752"/>
            <a:ext cx="3657600" cy="310896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377647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YOLO-World：bottle 检测框</a:t>
            </a:r>
            <a:endParaRPr lang="en-US" sz="900" dirty="0"/>
          </a:p>
        </p:txBody>
      </p:sp>
      <p:pic>
        <p:nvPicPr>
          <p:cNvPr id="7" name="Image 1" descr="/home/ubuntu/open-vocab-grasping/outputs/20260816_140448_414159_run_seed10/filtered_candidates_2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298448"/>
            <a:ext cx="365760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34840" y="3730752"/>
            <a:ext cx="3657600" cy="310896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44568" y="377647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候选中心投影到目标框并检查深度</a:t>
            </a:r>
            <a:endParaRPr lang="en-US" sz="900" dirty="0"/>
          </a:p>
        </p:txBody>
      </p:sp>
      <p:pic>
        <p:nvPicPr>
          <p:cNvPr id="10" name="Image 2" descr="/home/ubuntu/open-vocab-grasping/outputs/20260816_140448_414159_run_seed10/filtered_candidates_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298448"/>
            <a:ext cx="2743200" cy="2743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302752" y="3730752"/>
            <a:ext cx="2743200" cy="310896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412480" y="377647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场景级候选的 3D 过滤可视化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58368" y="4718304"/>
            <a:ext cx="320040" cy="320040"/>
          </a:xfrm>
          <a:prstGeom prst="ellipse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58368" y="4773168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097280" y="4636008"/>
            <a:ext cx="3072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动态文本类别：由指令给定目标词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498848" y="4718304"/>
            <a:ext cx="320040" cy="320040"/>
          </a:xfrm>
          <a:prstGeom prst="ellipse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498848" y="4773168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937760" y="4636008"/>
            <a:ext cx="3072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OpenGL 深度缓冲 → 米制 z，反投影为点云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339328" y="4718304"/>
            <a:ext cx="320040" cy="320040"/>
          </a:xfrm>
          <a:prstGeom prst="ellipse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339328" y="4773168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778240" y="4636008"/>
            <a:ext cx="3072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候选中心需同时满足框内、深度一致与几何间隙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8368" y="5650992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9E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实例真值仅在推理后计算 IoU 和目标选择指标；没有作为 YOLO-World 输入或候选语义选择输入。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350">
            <a:solidFill>
              <a:srgbClr val="C6D4D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" kern="0" dirty="0">
                <a:solidFill>
                  <a:srgbClr val="6076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OPEN-VOCAB GRASPING  |  PYBULLET SIMULATION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4709160" y="654710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076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seed-10 图像：detections.png / filtered_candidates_2d.png / filtered_candidates_3d.png</a:t>
            </a:r>
            <a:endParaRPr lang="en-US" sz="720" dirty="0"/>
          </a:p>
        </p:txBody>
      </p:sp>
      <p:sp>
        <p:nvSpPr>
          <p:cNvPr id="26" name="Text 21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9D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784080" y="5074920"/>
            <a:ext cx="2377440" cy="2377440"/>
          </a:xfrm>
          <a:prstGeom prst="arc">
            <a:avLst/>
          </a:prstGeom>
          <a:solidFill>
            <a:srgbClr val="071522">
              <a:alpha val="0"/>
            </a:srgbClr>
          </a:solidFill>
          <a:ln w="12700">
            <a:solidFill>
              <a:srgbClr val="2B4252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GRASP PLANNING &amp; EXECUTION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394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6-DoF 候选不是直接执行：必须经过物理与运动学筛选</a:t>
            </a:r>
            <a:endParaRPr lang="en-US" sz="3600" dirty="0"/>
          </a:p>
        </p:txBody>
      </p:sp>
      <p:pic>
        <p:nvPicPr>
          <p:cNvPr id="6" name="Image 0" descr="/home/ubuntu/open-vocab-grasping/outputs/20260816_140448_414159_run_seed10/filtered_candidates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07592"/>
            <a:ext cx="306324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" y="4059936"/>
            <a:ext cx="3063240" cy="310896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105656"/>
            <a:ext cx="2843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真实官方 GraspNet 候选筛选可视化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05072" y="1307592"/>
            <a:ext cx="3328416" cy="3063240"/>
          </a:xfrm>
          <a:prstGeom prst="roundRect">
            <a:avLst>
              <a:gd name="adj" fmla="val 1791"/>
            </a:avLst>
          </a:prstGeom>
          <a:solidFill>
            <a:srgbClr val="102535"/>
          </a:solidFill>
          <a:ln w="10160">
            <a:solidFill>
              <a:srgbClr val="2B42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15968" y="1600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坐标链与筛选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15968" y="1993392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T_base_grasp =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T_base_world · T_world_camera ·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T_camera_grasp · T_grasp_tool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43400" y="3127248"/>
            <a:ext cx="91440" cy="91440"/>
          </a:xfrm>
          <a:prstGeom prst="ellipse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53712" y="3063240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抓取分数 / 宽度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400" y="3355848"/>
            <a:ext cx="91440" cy="91440"/>
          </a:xfrm>
          <a:prstGeom prst="ellipse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53712" y="3291840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桌面与点云碰撞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43400" y="3584448"/>
            <a:ext cx="91440" cy="91440"/>
          </a:xfrm>
          <a:prstGeom prst="ellipse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53712" y="3520440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工作空间 / 接触支持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43400" y="3813048"/>
            <a:ext cx="91440" cy="91440"/>
          </a:xfrm>
          <a:prstGeom prst="ellipse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53712" y="3749040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预抓取 + 抓取 IK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43400" y="4041648"/>
            <a:ext cx="91440" cy="91440"/>
          </a:xfrm>
          <a:prstGeom prst="ellipse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53712" y="3977640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DE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关节插值轨迹</a:t>
            </a:r>
            <a:endParaRPr lang="en-US" sz="1050" dirty="0"/>
          </a:p>
        </p:txBody>
      </p:sp>
      <p:pic>
        <p:nvPicPr>
          <p:cNvPr id="22" name="Image 1" descr="/home/ubuntu/open-vocab-grasping/deliverables/portfolio/assets/seed10_appro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307592"/>
            <a:ext cx="1828800" cy="13716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635240" y="2368296"/>
            <a:ext cx="1828800" cy="310896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744968" y="241401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预抓取 / 接近</a:t>
            </a:r>
            <a:endParaRPr lang="en-US" sz="900" dirty="0"/>
          </a:p>
        </p:txBody>
      </p:sp>
      <p:pic>
        <p:nvPicPr>
          <p:cNvPr id="25" name="Image 2" descr="/home/ubuntu/open-vocab-grasping/deliverables/portfolio/assets/seed10_li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307592"/>
            <a:ext cx="1828800" cy="13716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646920" y="2368296"/>
            <a:ext cx="1828800" cy="310896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756648" y="241401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闭合 / 抬升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7662672" y="3127248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13344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690104" y="32095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RESET</a:t>
            </a:r>
            <a:endParaRPr lang="en-US" sz="720" dirty="0"/>
          </a:p>
        </p:txBody>
      </p:sp>
      <p:sp>
        <p:nvSpPr>
          <p:cNvPr id="30" name="Shape 25"/>
          <p:cNvSpPr/>
          <p:nvPr/>
        </p:nvSpPr>
        <p:spPr>
          <a:xfrm>
            <a:off x="8421624" y="3127248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13344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449056" y="32095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OBSERVE</a:t>
            </a:r>
            <a:endParaRPr lang="en-US" sz="720" dirty="0"/>
          </a:p>
        </p:txBody>
      </p:sp>
      <p:sp>
        <p:nvSpPr>
          <p:cNvPr id="32" name="Shape 27"/>
          <p:cNvSpPr/>
          <p:nvPr/>
        </p:nvSpPr>
        <p:spPr>
          <a:xfrm>
            <a:off x="9180576" y="3127248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13344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208008" y="32095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DETECT</a:t>
            </a:r>
            <a:endParaRPr lang="en-US" sz="720" dirty="0"/>
          </a:p>
        </p:txBody>
      </p:sp>
      <p:sp>
        <p:nvSpPr>
          <p:cNvPr id="34" name="Shape 29"/>
          <p:cNvSpPr/>
          <p:nvPr/>
        </p:nvSpPr>
        <p:spPr>
          <a:xfrm>
            <a:off x="9939528" y="3127248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13344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966960" y="32095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</a:t>
            </a:r>
            <a:endParaRPr lang="en-US" sz="720" dirty="0"/>
          </a:p>
        </p:txBody>
      </p:sp>
      <p:sp>
        <p:nvSpPr>
          <p:cNvPr id="36" name="Shape 31"/>
          <p:cNvSpPr/>
          <p:nvPr/>
        </p:nvSpPr>
        <p:spPr>
          <a:xfrm>
            <a:off x="10698480" y="3127248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13344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0725912" y="32095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SELECT</a:t>
            </a:r>
            <a:endParaRPr lang="en-US" sz="720" dirty="0"/>
          </a:p>
        </p:txBody>
      </p:sp>
      <p:sp>
        <p:nvSpPr>
          <p:cNvPr id="38" name="Shape 33"/>
          <p:cNvSpPr/>
          <p:nvPr/>
        </p:nvSpPr>
        <p:spPr>
          <a:xfrm>
            <a:off x="7662672" y="3584448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64252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690104" y="36667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PREGRASP</a:t>
            </a:r>
            <a:endParaRPr lang="en-US" sz="720" dirty="0"/>
          </a:p>
        </p:txBody>
      </p:sp>
      <p:sp>
        <p:nvSpPr>
          <p:cNvPr id="40" name="Shape 35"/>
          <p:cNvSpPr/>
          <p:nvPr/>
        </p:nvSpPr>
        <p:spPr>
          <a:xfrm>
            <a:off x="8421624" y="3584448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64252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449056" y="36667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APPROACH</a:t>
            </a:r>
            <a:endParaRPr lang="en-US" sz="720" dirty="0"/>
          </a:p>
        </p:txBody>
      </p:sp>
      <p:sp>
        <p:nvSpPr>
          <p:cNvPr id="42" name="Shape 37"/>
          <p:cNvSpPr/>
          <p:nvPr/>
        </p:nvSpPr>
        <p:spPr>
          <a:xfrm>
            <a:off x="9180576" y="3584448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64252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9208008" y="36667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</a:t>
            </a:r>
            <a:endParaRPr lang="en-US" sz="720" dirty="0"/>
          </a:p>
        </p:txBody>
      </p:sp>
      <p:sp>
        <p:nvSpPr>
          <p:cNvPr id="44" name="Shape 39"/>
          <p:cNvSpPr/>
          <p:nvPr/>
        </p:nvSpPr>
        <p:spPr>
          <a:xfrm>
            <a:off x="9939528" y="3584448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64252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9966960" y="36667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LIFT</a:t>
            </a:r>
            <a:endParaRPr lang="en-US" sz="720" dirty="0"/>
          </a:p>
        </p:txBody>
      </p:sp>
      <p:sp>
        <p:nvSpPr>
          <p:cNvPr id="46" name="Shape 41"/>
          <p:cNvSpPr/>
          <p:nvPr/>
        </p:nvSpPr>
        <p:spPr>
          <a:xfrm>
            <a:off x="10698480" y="3584448"/>
            <a:ext cx="649224" cy="274320"/>
          </a:xfrm>
          <a:prstGeom prst="roundRect">
            <a:avLst>
              <a:gd name="adj" fmla="val 20000"/>
            </a:avLst>
          </a:prstGeom>
          <a:solidFill>
            <a:srgbClr val="164252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10725912" y="36667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EVALUATE</a:t>
            </a:r>
            <a:endParaRPr lang="en-US" sz="720" dirty="0"/>
          </a:p>
        </p:txBody>
      </p:sp>
      <p:sp>
        <p:nvSpPr>
          <p:cNvPr id="48" name="Shape 43"/>
          <p:cNvSpPr/>
          <p:nvPr/>
        </p:nvSpPr>
        <p:spPr>
          <a:xfrm>
            <a:off x="640080" y="4882896"/>
            <a:ext cx="10863072" cy="795528"/>
          </a:xfrm>
          <a:prstGeom prst="roundRect">
            <a:avLst>
              <a:gd name="adj" fmla="val 6897"/>
            </a:avLst>
          </a:prstGeom>
          <a:solidFill>
            <a:srgbClr val="123A4B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960120" y="5148072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保留的真实 bottle 结果：官方 GraspNet 1,009 个候选 → 4 个可执行候选 → 抬升 0.115870 m；整个过程由 Panda 状态机执行。</a:t>
            </a:r>
            <a:endParaRPr lang="en-US" sz="1700" dirty="0"/>
          </a:p>
        </p:txBody>
      </p:sp>
      <p:sp>
        <p:nvSpPr>
          <p:cNvPr id="50" name="Shape 4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350">
            <a:solidFill>
              <a:srgbClr val="2B425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" kern="0" dirty="0">
                <a:solidFill>
                  <a:srgbClr val="AFC2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OPEN-VOCAB GRASPING  |  PYBULLET SIMULATION</a:t>
            </a:r>
            <a:endParaRPr lang="en-US" sz="750" dirty="0"/>
          </a:p>
        </p:txBody>
      </p:sp>
      <p:sp>
        <p:nvSpPr>
          <p:cNvPr id="52" name="Text 47"/>
          <p:cNvSpPr/>
          <p:nvPr/>
        </p:nvSpPr>
        <p:spPr>
          <a:xfrm>
            <a:off x="4709160" y="654710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AFC2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seed-10：agent_result.json；坐标定义：docs/coordinate_frames.md</a:t>
            </a:r>
            <a:endParaRPr lang="en-US" sz="720" dirty="0"/>
          </a:p>
        </p:txBody>
      </p:sp>
      <p:sp>
        <p:nvSpPr>
          <p:cNvPr id="53" name="Text 48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9D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59E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SAFE LLM PLANNING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94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DeepSeek 只负责受约束任务规划，不自由执行代码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7373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C9D8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56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中文/英文指令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5146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请抓取桌面上的瓶子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788920"/>
            <a:ext cx="256032" cy="292608"/>
          </a:xfrm>
          <a:prstGeom prst="chevron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664208"/>
            <a:ext cx="17373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C9D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956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 计划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63240" y="25146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action=pick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target=bottle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28032" y="2788920"/>
            <a:ext cx="256032" cy="292608"/>
          </a:xfrm>
          <a:prstGeom prst="chevron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1664208"/>
            <a:ext cx="1737360" cy="2606040"/>
          </a:xfrm>
          <a:prstGeom prst="roundRect">
            <a:avLst>
              <a:gd name="adj" fmla="val 3158"/>
            </a:avLst>
          </a:prstGeom>
          <a:solidFill>
            <a:srgbClr val="154550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4104" y="1956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规则校验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04104" y="25146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目标白名单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六步顺序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68896" y="2788920"/>
            <a:ext cx="256032" cy="292608"/>
          </a:xfrm>
          <a:prstGeom prst="chevron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1664208"/>
            <a:ext cx="17373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C9D8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44968" y="1956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受限 DSL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44968" y="25146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controller.detect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('bottle')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… 共六调用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09760" y="2788920"/>
            <a:ext cx="256032" cy="292608"/>
          </a:xfrm>
          <a:prstGeom prst="chevron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48672" y="1664208"/>
            <a:ext cx="17373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C9D8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85832" y="1956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安全执行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85832" y="25146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SafeRobot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Controller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逐阶段门控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809744"/>
            <a:ext cx="10652760" cy="704088"/>
          </a:xfrm>
          <a:prstGeom prst="roundRect">
            <a:avLst>
              <a:gd name="adj" fmla="val 7792"/>
            </a:avLst>
          </a:prstGeom>
          <a:solidFill>
            <a:srgbClr val="E5F5F4"/>
          </a:solidFill>
          <a:ln w="10160">
            <a:solidFill>
              <a:srgbClr val="B4DC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047488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 次真实 DeepSeek API 规划：计划有效 / 目标正确 / 本地 DSL 校验均为 40/40；平均规划延迟 0.861 s。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5806440"/>
            <a:ext cx="10561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9E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关键边界：模型返回 JSON；系统本地编译并 AST 验证固定六调用 DSL；导入、builtins、额外调用、顺序变化和目标变化均拒绝。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350">
            <a:solidFill>
              <a:srgbClr val="C6D4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" kern="0" dirty="0">
                <a:solidFill>
                  <a:srgbClr val="6076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OPEN-VOCAB GRASPING  |  PYBULLET SIMULATION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09160" y="654710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076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Agent 40 回合：cases.csv / summary.json；单例：agent_plan.json / trace.json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9D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784080" y="5074920"/>
            <a:ext cx="2377440" cy="2377440"/>
          </a:xfrm>
          <a:prstGeom prst="arc">
            <a:avLst/>
          </a:prstGeom>
          <a:solidFill>
            <a:srgbClr val="071522">
              <a:alpha val="0"/>
            </a:srgbClr>
          </a:solidFill>
          <a:ln w="12700">
            <a:solidFill>
              <a:srgbClr val="2B4252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FORMAL EVALUATION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394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 40 回合实验：语义链路稳定，物理接触仍是主要瓶颈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3504" y="12618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阶段通过率（40 个固定 seed，四类目标）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828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73352" y="1728216"/>
            <a:ext cx="3246120" cy="384048"/>
          </a:xfrm>
          <a:prstGeom prst="rect">
            <a:avLst/>
          </a:prstGeom>
          <a:solidFill>
            <a:srgbClr val="2B4252"/>
          </a:solidFill>
          <a:ln w="12700">
            <a:solidFill>
              <a:srgbClr val="2B4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3352" y="1728216"/>
            <a:ext cx="3083814" cy="384048"/>
          </a:xfrm>
          <a:prstGeom prst="rect">
            <a:avLst/>
          </a:prstGeom>
          <a:solidFill>
            <a:srgbClr val="4CA8FF"/>
          </a:solidFill>
          <a:ln w="12700">
            <a:solidFill>
              <a:srgbClr val="4C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6632" y="18013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38/40  (95.0%)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4323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目标选择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73352" y="2331720"/>
            <a:ext cx="3246120" cy="384048"/>
          </a:xfrm>
          <a:prstGeom prst="rect">
            <a:avLst/>
          </a:prstGeom>
          <a:solidFill>
            <a:srgbClr val="2B4252"/>
          </a:solidFill>
          <a:ln w="12700">
            <a:solidFill>
              <a:srgbClr val="2B42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3352" y="2331720"/>
            <a:ext cx="3002661" cy="384048"/>
          </a:xfrm>
          <a:prstGeom prst="rect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56632" y="24048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37/40  (92.5%)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0358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IK 可达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73352" y="2935224"/>
            <a:ext cx="3246120" cy="384048"/>
          </a:xfrm>
          <a:prstGeom prst="rect">
            <a:avLst/>
          </a:prstGeom>
          <a:solidFill>
            <a:srgbClr val="2B4252"/>
          </a:solidFill>
          <a:ln w="12700">
            <a:solidFill>
              <a:srgbClr val="2B42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73352" y="2935224"/>
            <a:ext cx="2840355" cy="384048"/>
          </a:xfrm>
          <a:prstGeom prst="rect">
            <a:avLst/>
          </a:prstGeom>
          <a:solidFill>
            <a:srgbClr val="F5C256"/>
          </a:solidFill>
          <a:ln w="12700">
            <a:solidFill>
              <a:srgbClr val="F5C2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30083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35/40  (87.5%)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36393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端到端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673352" y="3538728"/>
            <a:ext cx="3246120" cy="384048"/>
          </a:xfrm>
          <a:prstGeom prst="rect">
            <a:avLst/>
          </a:prstGeom>
          <a:solidFill>
            <a:srgbClr val="2B4252"/>
          </a:solidFill>
          <a:ln w="12700">
            <a:solidFill>
              <a:srgbClr val="2B42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73352" y="3538728"/>
            <a:ext cx="2109978" cy="384048"/>
          </a:xfrm>
          <a:prstGeom prst="rect">
            <a:avLst/>
          </a:prstGeom>
          <a:solidFill>
            <a:srgbClr val="66D49E"/>
          </a:solidFill>
          <a:ln w="12700">
            <a:solidFill>
              <a:srgbClr val="66D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36118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26/40  (65.0%)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55664" y="12618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9D5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按类别端到端成功率（每类 10 回合）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02552" y="2706624"/>
            <a:ext cx="640080" cy="1371600"/>
          </a:xfrm>
          <a:prstGeom prst="rect">
            <a:avLst/>
          </a:prstGeom>
          <a:solidFill>
            <a:srgbClr val="4CA8FF"/>
          </a:solidFill>
          <a:ln w="12700">
            <a:solidFill>
              <a:srgbClr val="4CA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31343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6/10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56248" y="4224528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E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27264" y="2020824"/>
            <a:ext cx="640080" cy="2057400"/>
          </a:xfrm>
          <a:prstGeom prst="rect">
            <a:avLst/>
          </a:prstGeom>
          <a:solidFill>
            <a:srgbClr val="66D49E"/>
          </a:solidFill>
          <a:ln w="12700">
            <a:solidFill>
              <a:srgbClr val="66D4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54112" y="162763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9/10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80960" y="4224528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E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bottle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51976" y="2935224"/>
            <a:ext cx="640080" cy="1143000"/>
          </a:xfrm>
          <a:prstGeom prst="rect">
            <a:avLst/>
          </a:prstGeom>
          <a:solidFill>
            <a:srgbClr val="F5C256"/>
          </a:solidFill>
          <a:ln w="12700">
            <a:solidFill>
              <a:srgbClr val="F5C2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78824" y="254203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5/10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05672" y="4224528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E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bowl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76688" y="2706624"/>
            <a:ext cx="640080" cy="1371600"/>
          </a:xfrm>
          <a:prstGeom prst="rect">
            <a:avLst/>
          </a:prstGeom>
          <a:solidFill>
            <a:srgbClr val="39D5C5"/>
          </a:solidFill>
          <a:ln w="12700">
            <a:solidFill>
              <a:srgbClr val="39D5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03536" y="231343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6/10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30384" y="4224528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EA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" y="4992624"/>
            <a:ext cx="10927080" cy="658368"/>
          </a:xfrm>
          <a:prstGeom prst="roundRect">
            <a:avLst>
              <a:gd name="adj" fmla="val 8333"/>
            </a:avLst>
          </a:prstGeom>
          <a:solidFill>
            <a:srgbClr val="102535"/>
          </a:solidFill>
          <a:ln w="10160">
            <a:solidFill>
              <a:srgbClr val="159E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221224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GraspNet 平均推理 5.845 s  ·  单回合平均 11.519 s  ·  DeepSeek Agent 完整系统：40/40 计划校验、26/40 物理任务成功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350">
            <a:solidFill>
              <a:srgbClr val="2B42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" kern="0" dirty="0">
                <a:solidFill>
                  <a:srgbClr val="AFC2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OPEN-VOCAB GRASPING  |  PYBULLET SIMULATION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09160" y="654710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AFC2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数据：outputs/.../episodes.csv、summary.json、Agent cases.csv、summary.json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9D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159E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FAILURE ANALYSIS &amp;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94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14 次失败保留在统计中：下一步从“能抓”走向“稳定抓”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9E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失败分布（40 回合）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检测失败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31720" y="1792224"/>
            <a:ext cx="2926080" cy="365760"/>
          </a:xfrm>
          <a:prstGeom prst="rect">
            <a:avLst/>
          </a:prstGeom>
          <a:solidFill>
            <a:srgbClr val="DCE7E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792224"/>
            <a:ext cx="325120" cy="365760"/>
          </a:xfrm>
          <a:prstGeom prst="rect">
            <a:avLst/>
          </a:prstGeom>
          <a:solidFill>
            <a:srgbClr val="F06F6F"/>
          </a:solidFill>
          <a:ln w="12700">
            <a:solidFill>
              <a:srgbClr val="F06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2392" y="18653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1/40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542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无可接受候选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31720" y="2459736"/>
            <a:ext cx="2926080" cy="365760"/>
          </a:xfrm>
          <a:prstGeom prst="rect">
            <a:avLst/>
          </a:prstGeom>
          <a:solidFill>
            <a:srgbClr val="DCE7E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2459736"/>
            <a:ext cx="1300480" cy="365760"/>
          </a:xfrm>
          <a:prstGeom prst="rect">
            <a:avLst/>
          </a:prstGeom>
          <a:solidFill>
            <a:srgbClr val="F5C256"/>
          </a:solidFill>
          <a:ln w="12700">
            <a:solidFill>
              <a:srgbClr val="F5C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2392" y="25328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4/40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2095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未稳定抬升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331720" y="3127248"/>
            <a:ext cx="2926080" cy="365760"/>
          </a:xfrm>
          <a:prstGeom prst="rect">
            <a:avLst/>
          </a:prstGeom>
          <a:solidFill>
            <a:srgbClr val="DCE7E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3127248"/>
            <a:ext cx="2926080" cy="365760"/>
          </a:xfrm>
          <a:prstGeom prst="rect">
            <a:avLst/>
          </a:prstGeom>
          <a:solidFill>
            <a:srgbClr val="F06F6F"/>
          </a:solidFill>
          <a:ln w="12700">
            <a:solidFill>
              <a:srgbClr val="F06F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3200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9/40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142232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1F5F6"/>
          </a:solidFill>
          <a:ln w="10160">
            <a:solidFill>
              <a:srgbClr val="C8D8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407408"/>
            <a:ext cx="1005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E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当前限制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01952" y="427939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 PyBullet 仿真；无真实 RGB-D、ROS 或真机。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650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合成 RGB-D 与 GraspNet 训练域的差异仍影响候选和接触稳定性。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0528" y="1298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59E9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下一步：闭环与真机迁移前的四项改进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28816" y="1801368"/>
            <a:ext cx="274320" cy="274320"/>
          </a:xfrm>
          <a:prstGeom prst="ellipse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187452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13448" y="1783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开放词汇分割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52560" y="18013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70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 2D 框内背景混入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28816" y="2624328"/>
            <a:ext cx="274320" cy="274320"/>
          </a:xfrm>
          <a:prstGeom prst="ellipse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269748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13448" y="2606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接触/力稳定性评分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52560" y="26243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70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闭合后再决定是否抬升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28816" y="3447288"/>
            <a:ext cx="274320" cy="274320"/>
          </a:xfrm>
          <a:prstGeom prst="ellipse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35204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13448" y="3429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视觉反馈与重抓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52560" y="34472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70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将失败检测转为闭环恢复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28816" y="4270248"/>
            <a:ext cx="274320" cy="274320"/>
          </a:xfrm>
          <a:prstGeom prst="ellipse">
            <a:avLst/>
          </a:prstGeom>
          <a:solidFill>
            <a:srgbClr val="159E99"/>
          </a:solidFill>
          <a:ln w="12700">
            <a:solidFill>
              <a:srgbClr val="159E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8816" y="43434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13448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真机标定与安全控制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52560" y="42702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70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相机外参、碰撞模型、急停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10528" y="5239512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071522"/>
          </a:solidFill>
          <a:ln w="10160">
            <a:solidFill>
              <a:srgbClr val="0715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39128" y="53766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7F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结论：语言规划已被安全约束，下一阶段的主攻点是物理闭环可靠性。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6350">
            <a:solidFill>
              <a:srgbClr val="C6D4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" kern="0" dirty="0">
                <a:solidFill>
                  <a:srgbClr val="6076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OPEN-VOCAB GRASPING  |  PYBULLET SIMULATION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09160" y="654710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076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失败来源：docs/failure_analysis.md；演示视频：outputs/.../demo.mp4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9D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Open-Vocabulary Perception-Guided Robotic Grasping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开放词汇感知驱动的机械臂抓取规划</dc:title>
  <dc:subject>Robotics research portfolio; evidence-linked PyBullet simulation</dc:subject>
  <dc:creator>Iptihar Polat</dc:creator>
  <cp:lastModifiedBy>Iptihar Polat</cp:lastModifiedBy>
  <cp:revision>1</cp:revision>
  <dcterms:created xsi:type="dcterms:W3CDTF">2026-08-23T06:45:21Z</dcterms:created>
  <dcterms:modified xsi:type="dcterms:W3CDTF">2026-08-23T06:45:21Z</dcterms:modified>
</cp:coreProperties>
</file>